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5fec07d-2744-e860-67a1-6b687526173b}">
          <p14:sldIdLst>
            <p14:sldId id="256"/>
            <p14:sldId id="257"/>
          </p14:sldIdLst>
        </p14:section>
        <p14:section name="데이터" id="{a38a3751-fc67-8269-8939-7cb4ab877fdd}">
          <p14:sldIdLst>
            <p14:sldId id="258"/>
            <p14:sldId id="259"/>
          </p14:sldIdLst>
        </p14:section>
        <p14:section name="방법" id="{54f78620-9e87-1462-f71c-778c63a4c745}">
          <p14:sldIdLst>
            <p14:sldId id="260"/>
            <p14:sldId id="261"/>
            <p14:sldId id="262"/>
          </p14:sldIdLst>
        </p14:section>
        <p14:section name="결과" id="{d5f893c7-5b18-2669-5838-c6fb71964ec9}">
          <p14:sldIdLst>
            <p14:sldId id="263"/>
            <p14:sldId id="264"/>
            <p14:sldId id="265"/>
          </p14:sldIdLst>
        </p14:section>
        <p14:section name="마무리" id="{821fde9f-4bac-2a40-fb80-cd71acb9a4e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2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2A2F"/>
                </a:solidFill>
                <a:latin typeface="+mn-lt"/>
              </a:rPr>
              <a:t>검증 2025 rmse_log10 (낮을수록 좋음)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rmse_log10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native (모델 기본)</c:v>
                  </c:pt>
                  <c:pt idx="1">
                    <c:v>직전값 + 결측표시</c:v>
                  </c:pt>
                  <c:pt idx="2">
                    <c:v>지점·월 중앙값 + 표시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0.707</c:v>
                </c:pt>
                <c:pt idx="1">
                  <c:v>0.704</c:v>
                </c:pt>
                <c:pt idx="2">
                  <c:v>0.71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E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6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2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2A2F"/>
                </a:solidFill>
                <a:latin typeface="+mn-lt"/>
              </a:rPr>
              <a:t>검증 2025 rmse_log10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rmse_log10</c:v>
                </c:pt>
              </c:strCache>
            </c:strRef>
          </c:tx>
          <c:spPr>
            <a:solidFill>
              <a:srgbClr val="89878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987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987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987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persistence</c:v>
                  </c:pt>
                  <c:pt idx="1">
                    <c:v>climatology</c:v>
                  </c:pt>
                  <c:pt idx="2">
                    <c:v>blend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0.883</c:v>
                </c:pt>
                <c:pt idx="1">
                  <c:v>0.907</c:v>
                </c:pt>
                <c:pt idx="2">
                  <c:v>0.74</c:v>
                </c:pt>
                <c:pt idx="3">
                  <c:v>0.704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E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6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2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2A2F"/>
                </a:solidFill>
                <a:latin typeface="+mn-lt"/>
              </a:rPr>
              <a:t>피처 중요도 (gain, 최종 모델 상위 10)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5E9E3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A2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수온 lag1</c:v>
                  </c:pt>
                  <c:pt idx="1">
                    <c:v>수온 lag3</c:v>
                  </c:pt>
                  <c:pt idx="2">
                    <c:v>Microcystis 세포수</c:v>
                  </c:pt>
                  <c:pt idx="3">
                    <c:v>댐 강우 28일 합</c:v>
                  </c:pt>
                  <c:pt idx="4">
                    <c:v>경보 단계</c:v>
                  </c:pt>
                  <c:pt idx="5">
                    <c:v>수온</c:v>
                  </c:pt>
                  <c:pt idx="6">
                    <c:v>직전 세포수(lag1)</c:v>
                  </c:pt>
                  <c:pt idx="7">
                    <c:v>Microcystis 비율</c:v>
                  </c:pt>
                  <c:pt idx="8">
                    <c:v>log10 세포수</c:v>
                  </c:pt>
                  <c:pt idx="9">
                    <c:v>기준일 세포수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713</c:v>
                </c:pt>
                <c:pt idx="1">
                  <c:v>725</c:v>
                </c:pt>
                <c:pt idx="2">
                  <c:v>979</c:v>
                </c:pt>
                <c:pt idx="3">
                  <c:v>1155</c:v>
                </c:pt>
                <c:pt idx="4">
                  <c:v>1384</c:v>
                </c:pt>
                <c:pt idx="5">
                  <c:v>1449</c:v>
                </c:pt>
                <c:pt idx="6">
                  <c:v>2036</c:v>
                </c:pt>
                <c:pt idx="7">
                  <c:v>2118</c:v>
                </c:pt>
                <c:pt idx="8">
                  <c:v>8941</c:v>
                </c:pt>
                <c:pt idx="9">
                  <c:v>37501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E2A2F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2분 안에 문제·접근·결과 한 줄씩 말하고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2026 DATA·AI 분석 경진대회 · 녹조 7일 예측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수질·수문·기상 융합 기반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유해남조류 7일 예측 모델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2026 DATA·AI 분석 경진대회 문제해결 부문 · 과제 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팀명: 19일의 월요일  ·  팀원: (기입)  ·  2026. 11.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무엇을 맞히는가: 기준일 +7일 유해남조류 세포수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5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경보제 지점 (낙동강 4, 대청호 1)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7일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선행 예측 (정답 ±3일 최근접 측정)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124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'26년 5~10월 평가 조합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188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log10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RMSE·MAE + 원 단위 R²·NSE</a:t>
            </a:r>
            <a:endParaRPr lang="en-US" sz="1100" dirty="0"/>
          </a:p>
        </p:txBody>
      </p:sp>
      <p:sp>
        <p:nvSpPr>
          <p:cNvPr id="11" name="card 채점 규칙 (주최 측 eval_pairs.csv)"/>
          <p:cNvSpPr/>
          <p:nvPr/>
        </p:nvSpPr>
        <p:spPr>
          <a:xfrm>
            <a:off x="457200" y="256032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채점 규칙 (주최 측 eval_pairs.csv)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0175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기준일은 실측이 있는 날, 정답은 +7일에 가장 가까운 측정(±3일)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학습 ~'24 (2,310) / 검증 '25 (256) / 평가 '26 5~10월 (124)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기준일 이후 관측값 사용 금지 · 하드코딩·룩업 금지 · 재현 불일치 시 실격</a:t>
            </a:r>
            <a:endParaRPr lang="en-US" sz="1150" dirty="0"/>
          </a:p>
        </p:txBody>
      </p:sp>
      <p:sp>
        <p:nvSpPr>
          <p:cNvPr id="14" name="card 왜 어려운가"/>
          <p:cNvSpPr/>
          <p:nvPr/>
        </p:nvSpPr>
        <p:spPr>
          <a:xfrm>
            <a:off x="4663440" y="256032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왜 어려운가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0175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채수는 주 1회(경계 이상 주 2회), 강우·유량 증가 시 미채수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세포수는 0 ~ 수십만 cells/mL, 겨울엔 0이 1/4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'26년은 심한 녹조 해: 기준일 10,000 초과 비율 학습 10% vs 평가 58%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세 도메인을 기준일 기준 과거 창으로 묶는다</a:t>
            </a:r>
            <a:endParaRPr lang="en-US" sz="2400" dirty="0"/>
          </a:p>
        </p:txBody>
      </p:sp>
      <p:sp>
        <p:nvSpPr>
          <p:cNvPr id="3" name="card 수질·조류 (환경과학원)"/>
          <p:cNvSpPr/>
          <p:nvPr/>
        </p:nvSpPr>
        <p:spPr>
          <a:xfrm>
            <a:off x="457200" y="1188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8F1F3"/>
          </a:solidFill>
          <a:ln w="12700">
            <a:solidFill>
              <a:srgbClr val="E8F1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수질·조류 (환경과학원)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조류경보제 2,939건, 2012~2026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세포수(4속 합계·속별), 수온, pH, DO, 투명도, 탁도, 클로로필-a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이전 1~3회 측정값 lag, 측정 간격</a:t>
            </a:r>
            <a:endParaRPr lang="en-US" sz="1150" dirty="0"/>
          </a:p>
        </p:txBody>
      </p:sp>
      <p:sp>
        <p:nvSpPr>
          <p:cNvPr id="6" name="card 기상 (기상청 ASOS)"/>
          <p:cNvSpPr/>
          <p:nvPr/>
        </p:nvSpPr>
        <p:spPr>
          <a:xfrm>
            <a:off x="3246120" y="1188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DF4E6"/>
          </a:solidFill>
          <a:ln w="12700">
            <a:solidFill>
              <a:srgbClr val="EDF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기상 (기상청 ASOS)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지점별 최근접 관측소 6곳, 일 자료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기온·강수·풍속·습도·일조·일사·지면온도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과거 7·14·28일 평균/합/최대/최소</a:t>
            </a:r>
            <a:endParaRPr lang="en-US" sz="1150" dirty="0"/>
          </a:p>
        </p:txBody>
      </p:sp>
      <p:sp>
        <p:nvSpPr>
          <p:cNvPr id="9" name="card 수문 (K-water WAMIS)"/>
          <p:cNvSpPr/>
          <p:nvPr/>
        </p:nvSpPr>
        <p:spPr>
          <a:xfrm>
            <a:off x="6035040" y="1188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수문 (K-water WAMIS)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다목적댐 15개 일 자료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상류 댐 집합의 유입·방류·취수·강우 합산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대표 댐 저수위 + 월별 평년 편차, 체류시간 대리변수</a:t>
            </a:r>
            <a:endParaRPr lang="en-US" sz="1150" dirty="0"/>
          </a:p>
        </p:txBody>
      </p:sp>
      <p:sp>
        <p:nvSpPr>
          <p:cNvPr id="12" name="merge box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E2A2F"/>
          </a:solidFill>
          <a:ln w="12700">
            <a:solidFill>
              <a:srgbClr val="0E2A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결합 결과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2,939행 × 126열 · 기준일 포함 과거만 사용(rolling + 과거 방향 asof) · 평년값·중앙값은 학습 구간에서만 계산 · 입력 열은 허용 목록으로 선택해 정답·날짜 열이 섞이면 실행 중단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지점별 세포수: 여름마다 봉우리, 높이는 해마다 다름</a:t>
            </a:r>
            <a:endParaRPr lang="en-US" sz="2400" dirty="0"/>
          </a:p>
        </p:txBody>
      </p:sp>
      <p:pic>
        <p:nvPicPr>
          <p:cNvPr id="3" name="지점별 세포수 시계열" descr="/home/user/data.AI/reports/figures/eda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120640" cy="3611880"/>
          </a:xfrm>
          <a:prstGeom prst="rect">
            <a:avLst/>
          </a:prstGeom>
        </p:spPr>
      </p:pic>
      <p:sp>
        <p:nvSpPr>
          <p:cNvPr id="4" name="card 데이터에서 확인한 것"/>
          <p:cNvSpPr/>
          <p:nvPr/>
        </p:nvSpPr>
        <p:spPr>
          <a:xfrm>
            <a:off x="5760720" y="1051560"/>
            <a:ext cx="2926080" cy="36118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161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데이터에서 확인한 것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508760"/>
            <a:ext cx="2651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측정 간격 중앙값 7일, 정답 간격이 정확히 7일인 비율 80%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결측: 수질 항목 13.7%, 세포수 5.4%, 독소 90%+ (미사용)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회남 2012~2015년 수온 전부 결측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7일 뒤 세포수와 상관: 기준일 세포수 0.82, 수온 0.71, 4주 기온 0.69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경계(10,000) 초과 비율이 분할마다 달라 분포 이동 존재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피처 설계: 요구된 융합 특징을 그대로 구현</a:t>
            </a:r>
            <a:endParaRPr lang="en-US" sz="2400" dirty="0"/>
          </a:p>
        </p:txBody>
      </p:sp>
      <p:sp>
        <p:nvSpPr>
          <p:cNvPr id="3" name="card 누적 강우 · 이동평균 수온·기온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누적 강우 · 이동평균 수온·기온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기준일 포함 과거 7·14·28일 창 집계(강수 합, 기온 평균, 최고·최저)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강수 결측(NaN)은 무강수로 간주해 0 처리</a:t>
            </a:r>
            <a:endParaRPr lang="en-US" sz="1150" dirty="0"/>
          </a:p>
        </p:txBody>
      </p:sp>
      <p:sp>
        <p:nvSpPr>
          <p:cNvPr id="6" name="card 체류시간 대리변수 (저수량 없음)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체류시간 대리변수 (저수량 없음)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방류 7일 평균 / 유입 7일 평균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방류 7일 평균 / 방류 28일 평균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대표 댐 저수위의 월별 평년(≤'24) 대비 편차</a:t>
            </a:r>
            <a:endParaRPr lang="en-US" sz="1150" dirty="0"/>
          </a:p>
        </p:txBody>
      </p:sp>
      <p:sp>
        <p:nvSpPr>
          <p:cNvPr id="9" name="card 지점 ↔ 상류 댐 (수계 지리로 검증)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지점 ↔ 상류 댐 (수계 지리로 검증)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해평·강정고령: 안동·임하·영주·성덕·군위·김천부항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칠서: + 합천·남강 / 물금·매리: + 밀양 / 회남: 용담·대청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조정지댐은 본댐과 중복이라 제외</a:t>
            </a:r>
            <a:endParaRPr lang="en-US" sz="1150" dirty="0"/>
          </a:p>
        </p:txBody>
      </p:sp>
      <p:sp>
        <p:nvSpPr>
          <p:cNvPr id="12" name="card 규정 준수 장치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규정 준수 장치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입력 열 허용 목록(allowlist) + 정답 열 혼입 시 assert 중단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평가 행 정답은 결합 단계에서 비움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시드 고정, 명령 두 줄로 재현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결측 대체 전략 3안: 차이는 잡음 수준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해석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0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해석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164592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세 전략 모두 0.70~0.71, 유의한 차이 없음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결측 자체보다 7일 뒤 봉우리 예측이 병목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제출 모델은 검증 최저 전략 자동 선택(직전값 + 결측표시)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결측 표시 열(_isna)을 넣어 '미채수 상황' 자체를 신호로 활용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모델과 검증: LightGBM, 공식 분할 + 롤링 검증</a:t>
            </a:r>
            <a:endParaRPr lang="en-US" sz="2400" dirty="0"/>
          </a:p>
        </p:txBody>
      </p:sp>
      <p:sp>
        <p:nvSpPr>
          <p:cNvPr id="3" name="card LightGBM 회귀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LightGBM 회귀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목표 log10(세포수+1), 손실 L2 → 공식 지표 rmse_log10와 일치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learning_rate 0.03, num_leaves 15, min_child 20, feature/bagging 0.8, λ2 1.0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반복 수는 공식 검증 early stopping(131)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5개 지점 통합 모델(지점·우점종은 범주형), 지점별 모델은 더 나빴음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최종 제출: 학습+검증(≤'25) 재학습 → '26 예측, 0 이상 정수</a:t>
            </a:r>
            <a:endParaRPr lang="en-US" sz="1150" dirty="0"/>
          </a:p>
        </p:txBody>
      </p:sp>
      <p:sp>
        <p:nvSpPr>
          <p:cNvPr id="6" name="card 검증 설계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DF4E6"/>
          </a:solidFill>
          <a:ln w="12700">
            <a:solidFill>
              <a:srgbClr val="EDF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검증 설계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공식: ~'24 학습 → '25 검증 (256)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롤링: ~'21→'22 (271), ~'22→'23 (248) — 한 해 운 배제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5~10월 부분집합 지표 별도 산출(평가 구간과 동일 조건)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베이스라인: persistence(기준일 값), climatology(지점·월 중앙값)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'26 실측은 모델 선택에 사용하지 않음(자체 채점 참고만)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결과: 로그 오차 20% 개선, 원 단위 R²는 목표 미달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검증 결과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11480"/>
                <a:gridCol w="914400"/>
                <a:gridCol w="68580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rmse_log10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R² / NSE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 (≥10,000)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'25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0.185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롤링 '22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0.328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롤링 '23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0.045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0.267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'25 5~10월만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 읽는 법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37673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읽는 법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persistence 대비 rmse_log10 0.88 → 0.70, 원 단위 R² −0.28 → 0.19. 과제 목표(R² 0.6, NSE 0.5)에는 미달 — 원 단위 지표는 수십만 cells/mL 봉우리 몇 개가 좌우하며 로그 모델은 봉우리를 과소예측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예측을 끌고 가는 것: 현재 상태 &gt; 수온 &gt; 수문·기상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선행연구와 비교"/>
          <p:cNvSpPr/>
          <p:nvPr/>
        </p:nvSpPr>
        <p:spPr>
          <a:xfrm>
            <a:off x="5760720" y="1188720"/>
            <a:ext cx="2926080" cy="33832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선행연구와 비교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64592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송찬영 외(2023): 수온 0.63 &gt; 월 0.37 &gt; 유입 0.19 ≈ 방류 0.19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우리 데이터: 수온·기온·지면온도 28일 평균이 상위, 댐 강우 28일 합이 수문 변수 중 최상위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융합 데이터가 설명력을 더하는 것은 확인, 7일 뒤 봉우리까지는 못 미침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12가지 변형 비교: 기준을 넘는 변형은 없었다</a:t>
            </a:r>
            <a:endParaRPr lang="en-US" sz="2400" dirty="0"/>
          </a:p>
        </p:txBody>
      </p:sp>
      <p:graphicFrame>
        <p:nvGraphicFramePr>
          <p:cNvPr id="11" name="변형 실험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1554480"/>
                <a:gridCol w="155448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'25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롤링 '22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롤링 '23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(L2 log, 통합 모델)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Huber / Poisson / Tweedie 손실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0.715 / 0.968 / 0.760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0.833 / 1.139 / 0.874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0.776 / 1.181 / 0.851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로그→원 단위 편향 보정, 고농도 가중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0.705 / 0.705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0.827 / 0.861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0.810 / 0.792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persistence 블렌드, 분위수 혼합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0.723 / 0.709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0.810 / 0.831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0.791 / 0.796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동역학 피처(증가율·적산온도·평년 편차)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지점별 모델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0.739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회남 '12~'15 제외, 5시드 평균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0.711 / 0.712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0.819 / 0.840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 / 0.758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E2A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값은 rmse_log10. 예측 구간(q10~q90) 포함률은 검증 73%로 명목 80%보다 낮아 보수적으로 해석 필요. 결론: 개선은 모델 구조가 아니라 새 정보(향후 기상, 하천 수위)에서 나와야 한다.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정직한 평가와 현업 활용</a:t>
            </a:r>
            <a:endParaRPr lang="en-US" sz="2400" dirty="0"/>
          </a:p>
        </p:txBody>
      </p:sp>
      <p:sp>
        <p:nvSpPr>
          <p:cNvPr id="3" name="card 한계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한계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7일 선행에 필요한 정보(향후 기상, 하천 구간 수리 조건)가 입력에 없음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'26 평가 구간은 5~10월·심한 녹조 해 → 학습 분포와 다름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DataON 하천 수위는 '24년까지 → 평가 구간 사용 불가, 미사용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롤링 '22·'23의 댐 수위 평년값에 소폭 사후 정보 포함(공식 분할은 해당 없음)</a:t>
            </a:r>
            <a:endParaRPr lang="en-US" sz="1150" dirty="0"/>
          </a:p>
        </p:txBody>
      </p:sp>
      <p:sp>
        <p:nvSpPr>
          <p:cNvPr id="6" name="card 활용 방안 (K-water 운영 관점)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EDF4E6"/>
          </a:solidFill>
          <a:ln w="12700">
            <a:solidFill>
              <a:srgbClr val="EDF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활용 방안 (K-water 운영 관점)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경계(10,000) 초과 F1 0.67~0.74 → 제거설비 배치 우선순위의 보조 지표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지점별 7일 예측 + 예측 구간을 주간 운영 회의 자료로 제공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결측 표시가 '미채수 상황' 경고 역할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국립환경과학원 예측정보(물모아)와 동일 기간 비교 예정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재현: make data &amp;&amp; make train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시드 고정 · 하드코딩 없음 · 입력은 기준일 이전 자료만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다음 단계: 향후 7일 기상 예보 입력, 주 2회 측정 구간의 짧은 간격 활용, 하천 수위 보강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저장소: github.com/Nautika01/data.AI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om">
  <a:themeElements>
    <a:clrScheme name="Bloom">
      <a:dk1>
        <a:srgbClr val="0E2A2F"/>
      </a:dk1>
      <a:lt1>
        <a:srgbClr val="FFFFFF"/>
      </a:lt1>
      <a:dk2>
        <a:srgbClr val="1C7293"/>
      </a:dk2>
      <a:lt2>
        <a:srgbClr val="EEF4F5"/>
      </a:lt2>
      <a:accent1>
        <a:srgbClr val="1C7293"/>
      </a:accent1>
      <a:accent2>
        <a:srgbClr val="5E9E3A"/>
      </a:accent2>
      <a:accent3>
        <a:srgbClr val="EB6834"/>
      </a:accent3>
      <a:accent4>
        <a:srgbClr val="D03B3B"/>
      </a:accent4>
      <a:accent5>
        <a:srgbClr val="898781"/>
      </a:accent5>
      <a:accent6>
        <a:srgbClr val="CADCFC"/>
      </a:accent6>
      <a:hlink>
        <a:srgbClr val="1C7293"/>
      </a:hlink>
      <a:folHlink>
        <a:srgbClr val="5E9E3A"/>
      </a:folHlink>
    </a:clrScheme>
    <a:fontScheme name="Bloom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2026-10-20T05:56:33Z</dcterms:created>
  <dcterms:modified xsi:type="dcterms:W3CDTF">2026-10-20T05:56:33Z</dcterms:modified>
</cp:coreProperties>
</file>